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C1312-9F72-3A8A-2DF8-149B22E8A197}" v="1" dt="2025-12-16T09:17:05.629"/>
    <p1510:client id="{40A566FD-E076-AE3F-F01F-DDA5BEA79410}" v="4" dt="2025-12-15T21:00:35.117"/>
    <p1510:client id="{5A9041B4-2B8B-287B-A0DB-80BF265D6BEB}" v="3" dt="2025-12-15T21:55:04.424"/>
    <p1510:client id="{868D96A2-64AF-B7B2-98A0-8FFB5C6CD67B}" v="450" dt="2025-12-15T21:53:4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9144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90" y="640080"/>
            <a:ext cx="7701534" cy="3227832"/>
          </a:xfrm>
        </p:spPr>
        <p:txBody>
          <a:bodyPr anchor="b">
            <a:normAutofit/>
          </a:bodyPr>
          <a:lstStyle>
            <a:lvl1pPr algn="ctr">
              <a:defRPr sz="1173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90" y="4526280"/>
            <a:ext cx="7701534" cy="1508760"/>
          </a:xfrm>
        </p:spPr>
        <p:txBody>
          <a:bodyPr>
            <a:normAutofit/>
          </a:bodyPr>
          <a:lstStyle>
            <a:lvl1pPr marL="0" indent="0" algn="ctr">
              <a:buNone/>
              <a:defRPr sz="4800" baseline="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2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7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1"/>
            <a:ext cx="9144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768096"/>
            <a:ext cx="7701534" cy="3136392"/>
          </a:xfrm>
        </p:spPr>
        <p:txBody>
          <a:bodyPr anchor="b">
            <a:normAutofit/>
          </a:bodyPr>
          <a:lstStyle>
            <a:lvl1pPr>
              <a:defRPr sz="9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0" y="4544568"/>
            <a:ext cx="7701534" cy="1545336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090" y="2587752"/>
            <a:ext cx="3611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9744" y="2583371"/>
            <a:ext cx="3611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1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1" y="2587752"/>
            <a:ext cx="3614166" cy="892048"/>
          </a:xfrm>
        </p:spPr>
        <p:txBody>
          <a:bodyPr anchor="ctr"/>
          <a:lstStyle>
            <a:lvl1pPr marL="0" indent="0">
              <a:buNone/>
              <a:defRPr sz="3467" b="0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90" y="3594538"/>
            <a:ext cx="3614166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07458" y="2587752"/>
            <a:ext cx="3614166" cy="892048"/>
          </a:xfrm>
        </p:spPr>
        <p:txBody>
          <a:bodyPr anchor="ctr"/>
          <a:lstStyle>
            <a:lvl1pPr marL="0" indent="0">
              <a:buNone/>
              <a:defRPr sz="3467" b="0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07458" y="3594538"/>
            <a:ext cx="3614166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90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2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8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2591850"/>
            <a:ext cx="4534233" cy="35935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0090" y="2591851"/>
            <a:ext cx="2858929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57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4928602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6978" y="2587752"/>
            <a:ext cx="2994642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238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9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5331206" y="0"/>
            <a:ext cx="381279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813805" y="643468"/>
            <a:ext cx="2607819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0091" y="643467"/>
            <a:ext cx="4128515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423" y="6356351"/>
            <a:ext cx="18920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5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1"/>
            <a:ext cx="9144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317814"/>
            <a:ext cx="7701534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0" y="2587752"/>
            <a:ext cx="7701534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7790" y="6356351"/>
            <a:ext cx="2427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600" spc="67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 spc="67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090" y="6356351"/>
            <a:ext cx="4128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7" cap="all" spc="67" baseline="0">
                <a:solidFill>
                  <a:schemeClr val="tx1"/>
                </a:solidFill>
              </a:defRPr>
            </a:lvl1pPr>
          </a:lstStyle>
          <a:p>
            <a:endParaRPr lang="en-US" spc="67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22108" y="6356351"/>
            <a:ext cx="699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1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t>Gestão de Finanças Pessoais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" y="2587752"/>
            <a:ext cx="7701534" cy="41677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2400" err="1">
                <a:ea typeface="+mn-lt"/>
                <a:cs typeface="+mn-lt"/>
              </a:rPr>
              <a:t>Unidade</a:t>
            </a:r>
            <a:r>
              <a:rPr lang="en-US" sz="2400">
                <a:ea typeface="+mn-lt"/>
                <a:cs typeface="+mn-lt"/>
              </a:rPr>
              <a:t> curricular: </a:t>
            </a:r>
            <a:r>
              <a:rPr lang="en-US" sz="2400" err="1">
                <a:ea typeface="+mn-lt"/>
                <a:cs typeface="+mn-lt"/>
              </a:rPr>
              <a:t>Programação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Orientada</a:t>
            </a:r>
            <a:r>
              <a:rPr lang="en-US" sz="240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Objeto</a:t>
            </a:r>
            <a:endParaRPr lang="pt-PT" sz="2400" err="1"/>
          </a:p>
          <a:p>
            <a:pPr algn="ctr"/>
            <a:endParaRPr lang="pt-PT" sz="2400"/>
          </a:p>
          <a:p>
            <a:pPr algn="ctr"/>
            <a:endParaRPr lang="pt-PT" sz="2400"/>
          </a:p>
          <a:p>
            <a:pPr algn="ctr"/>
            <a:endParaRPr lang="pt-PT" sz="2400"/>
          </a:p>
          <a:p>
            <a:pPr algn="ctr"/>
            <a:r>
              <a:rPr lang="pt-PT" sz="1800"/>
              <a:t>2025\2026 | TDM | Grupo5 </a:t>
            </a:r>
          </a:p>
          <a:p>
            <a:pPr algn="ctr"/>
            <a:r>
              <a:rPr lang="pt-PT" sz="1800"/>
              <a:t>Ana Costa </a:t>
            </a:r>
          </a:p>
          <a:p>
            <a:pPr algn="ctr"/>
            <a:r>
              <a:rPr lang="pt-PT" sz="1800"/>
              <a:t>Daniel Pereira</a:t>
            </a:r>
          </a:p>
          <a:p>
            <a:pPr algn="ctr"/>
            <a:r>
              <a:rPr lang="pt-PT" sz="1800"/>
              <a:t>Emanuela Santos</a:t>
            </a:r>
          </a:p>
          <a:p>
            <a:pPr algn="ctr"/>
            <a:r>
              <a:rPr lang="pt-PT" sz="1800"/>
              <a:t>Mónica Rodrigues </a:t>
            </a:r>
          </a:p>
          <a:p>
            <a:endParaRPr lang="en-US"/>
          </a:p>
          <a:p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D330C-F5C9-16D5-29D7-C76C73D4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600">
                <a:ea typeface="+mj-lt"/>
                <a:cs typeface="+mj-lt"/>
              </a:rPr>
              <a:t>Controlo de Progresso do Projeto</a:t>
            </a:r>
            <a:endParaRPr lang="pt-PT" sz="360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F07EFE-A896-8E83-432F-7514D1AB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PT"/>
          </a:p>
          <a:p>
            <a:pPr marL="0" lvl="1" indent="0">
              <a:buNone/>
            </a:pPr>
            <a:r>
              <a:rPr lang="pt-PT" sz="1600">
                <a:ea typeface="+mn-lt"/>
                <a:cs typeface="+mn-lt"/>
              </a:rPr>
              <a:t>T1.1: Diagrama de Casos de Uso – Responsável: Ana Costa </a:t>
            </a:r>
            <a:endParaRPr lang="pt-PT" sz="1600"/>
          </a:p>
          <a:p>
            <a:pPr marL="0" lvl="1" indent="0">
              <a:buNone/>
            </a:pPr>
            <a:r>
              <a:rPr lang="pt-PT" sz="1600">
                <a:ea typeface="+mn-lt"/>
                <a:cs typeface="+mn-lt"/>
              </a:rPr>
              <a:t>T1.2: Diagrama de Classes – Responsável: Emanuela Santos </a:t>
            </a:r>
          </a:p>
          <a:p>
            <a:pPr marL="0" lvl="1" indent="0">
              <a:buNone/>
            </a:pPr>
            <a:r>
              <a:rPr lang="pt-PT" sz="1600">
                <a:ea typeface="+mn-lt"/>
                <a:cs typeface="+mn-lt"/>
              </a:rPr>
              <a:t>T1.3.x: Diagramas de Sequência 1 a 6 – Responsáveis: Daniel Pereira, Emanuela Santos, Mónica Rodrigues, Ana Costa</a:t>
            </a:r>
            <a:endParaRPr lang="pt-PT" sz="1600"/>
          </a:p>
          <a:p>
            <a:r>
              <a:rPr lang="pt-PT" sz="1600">
                <a:ea typeface="+mn-lt"/>
                <a:cs typeface="+mn-lt"/>
              </a:rPr>
              <a:t>Pacote de trabalho PT2 – Implementação das classes</a:t>
            </a:r>
            <a:endParaRPr lang="pt-PT" sz="1600"/>
          </a:p>
          <a:p>
            <a:pPr marL="0" lvl="1" indent="0">
              <a:buNone/>
            </a:pPr>
            <a:r>
              <a:rPr lang="pt-PT" sz="1600">
                <a:ea typeface="+mn-lt"/>
                <a:cs typeface="+mn-lt"/>
              </a:rPr>
              <a:t>T2.2, T2.3, T2.4: Código‑fonte das classes principais – Responsáveis: Emanuela Santos, Mónica Rodrigues, Ana Costa</a:t>
            </a:r>
            <a:endParaRPr lang="pt-PT" sz="1600"/>
          </a:p>
          <a:p>
            <a:pPr marL="0" lvl="1" indent="0">
              <a:buNone/>
            </a:pPr>
            <a:r>
              <a:rPr lang="pt-PT" sz="1600">
                <a:ea typeface="+mn-lt"/>
                <a:cs typeface="+mn-lt"/>
              </a:rPr>
              <a:t>T2.5: Entrega da implementação das classes – Responsável: Daniel Pereira.</a:t>
            </a:r>
            <a:endParaRPr lang="pt-PT" sz="1600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129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>
                <a:solidFill>
                  <a:srgbClr val="FFFFFF"/>
                </a:solidFill>
                <a:latin typeface="Franklin Gothic Demi Cond"/>
              </a:rPr>
              <a:t>Objetivo do Site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Gerir</a:t>
            </a:r>
            <a:r>
              <a:rPr lang="en-US">
                <a:ea typeface="+mn-lt"/>
                <a:cs typeface="+mn-lt"/>
              </a:rPr>
              <a:t> categorias, transações e utilizadores</a:t>
            </a:r>
            <a:endParaRPr lang="pt-PT"/>
          </a:p>
          <a:p>
            <a:r>
              <a:rPr lang="pt-PT" err="1"/>
              <a:t>Calcular</a:t>
            </a:r>
            <a:r>
              <a:rPr lang="pt-PT"/>
              <a:t> </a:t>
            </a:r>
            <a:r>
              <a:rPr lang="pt-PT" err="1"/>
              <a:t>saldo</a:t>
            </a:r>
            <a:r>
              <a:rPr lang="pt-PT"/>
              <a:t> </a:t>
            </a:r>
            <a:r>
              <a:rPr lang="pt-PT" err="1"/>
              <a:t>financeiro</a:t>
            </a:r>
            <a:endParaRPr err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PT"/>
          </a:p>
          <a:p>
            <a:pPr marL="285750" indent="-285750">
              <a:buFont typeface="Arial"/>
              <a:buChar char="•"/>
            </a:pPr>
            <a:r>
              <a:rPr lang="en-US" sz="1800" err="1">
                <a:ea typeface="+mn-lt"/>
                <a:cs typeface="+mn-lt"/>
              </a:rPr>
              <a:t>Linguagem</a:t>
            </a:r>
            <a:r>
              <a:rPr lang="en-US" sz="1800">
                <a:ea typeface="+mn-lt"/>
                <a:cs typeface="+mn-lt"/>
              </a:rPr>
              <a:t>: C# com .NET 9 (</a:t>
            </a:r>
            <a:r>
              <a:rPr lang="en-US" sz="1800" err="1">
                <a:ea typeface="+mn-lt"/>
                <a:cs typeface="+mn-lt"/>
              </a:rPr>
              <a:t>aplicação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consola</a:t>
            </a:r>
            <a:r>
              <a:rPr lang="en-US" sz="1800">
                <a:ea typeface="+mn-lt"/>
                <a:cs typeface="+mn-lt"/>
              </a:rPr>
              <a:t> + Minimal API). </a:t>
            </a:r>
            <a:endParaRPr sz="1800"/>
          </a:p>
          <a:p>
            <a:pPr marL="285750" indent="-285750">
              <a:buFont typeface="Arial"/>
              <a:buChar char="•"/>
            </a:pPr>
            <a:r>
              <a:rPr lang="en-US" sz="1800" err="1">
                <a:ea typeface="+mn-lt"/>
                <a:cs typeface="+mn-lt"/>
              </a:rPr>
              <a:t>Persistência</a:t>
            </a:r>
            <a:r>
              <a:rPr lang="en-US" sz="1800">
                <a:ea typeface="+mn-lt"/>
                <a:cs typeface="+mn-lt"/>
              </a:rPr>
              <a:t> de dados </a:t>
            </a:r>
            <a:r>
              <a:rPr lang="en-US" sz="1800" err="1">
                <a:ea typeface="+mn-lt"/>
                <a:cs typeface="+mn-lt"/>
              </a:rPr>
              <a:t>em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ficheiros</a:t>
            </a:r>
            <a:r>
              <a:rPr lang="en-US" sz="1800">
                <a:ea typeface="+mn-lt"/>
                <a:cs typeface="+mn-lt"/>
              </a:rPr>
              <a:t> JSON (</a:t>
            </a:r>
            <a:r>
              <a:rPr lang="en-US" sz="1800" err="1">
                <a:ea typeface="+mn-lt"/>
                <a:cs typeface="+mn-lt"/>
              </a:rPr>
              <a:t>categorias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transações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utilizadores</a:t>
            </a:r>
            <a:r>
              <a:rPr lang="en-US" sz="1800">
                <a:ea typeface="+mn-lt"/>
                <a:cs typeface="+mn-lt"/>
              </a:rPr>
              <a:t>). </a:t>
            </a:r>
            <a:endParaRPr sz="1800"/>
          </a:p>
          <a:p>
            <a:pPr marL="285750" indent="-285750">
              <a:buFont typeface="Arial"/>
              <a:buChar char="•"/>
            </a:pPr>
            <a:r>
              <a:rPr lang="en-US" sz="1800" err="1">
                <a:ea typeface="+mn-lt"/>
                <a:cs typeface="+mn-lt"/>
              </a:rPr>
              <a:t>Camadas</a:t>
            </a:r>
            <a:r>
              <a:rPr lang="en-US" sz="1800">
                <a:ea typeface="+mn-lt"/>
                <a:cs typeface="+mn-lt"/>
              </a:rPr>
              <a:t>: </a:t>
            </a:r>
            <a:r>
              <a:rPr lang="en-US" sz="1800" err="1">
                <a:ea typeface="+mn-lt"/>
                <a:cs typeface="+mn-lt"/>
              </a:rPr>
              <a:t>modelos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domínio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serviços</a:t>
            </a:r>
            <a:r>
              <a:rPr lang="en-US" sz="1800">
                <a:ea typeface="+mn-lt"/>
                <a:cs typeface="+mn-lt"/>
              </a:rPr>
              <a:t> de </a:t>
            </a:r>
            <a:r>
              <a:rPr lang="en-US" sz="1800" err="1">
                <a:ea typeface="+mn-lt"/>
                <a:cs typeface="+mn-lt"/>
              </a:rPr>
              <a:t>negócio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persistência</a:t>
            </a:r>
            <a:r>
              <a:rPr lang="en-US" sz="1800">
                <a:ea typeface="+mn-lt"/>
                <a:cs typeface="+mn-lt"/>
              </a:rPr>
              <a:t> e interface (</a:t>
            </a:r>
            <a:r>
              <a:rPr lang="en-US" sz="1800" err="1">
                <a:ea typeface="+mn-lt"/>
                <a:cs typeface="+mn-lt"/>
              </a:rPr>
              <a:t>consola</a:t>
            </a:r>
            <a:r>
              <a:rPr lang="en-US" sz="1800">
                <a:ea typeface="+mn-lt"/>
                <a:cs typeface="+mn-lt"/>
              </a:rPr>
              <a:t> e web). </a:t>
            </a:r>
            <a:endParaRPr lang="pt-PT" sz="1800"/>
          </a:p>
          <a:p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/>
              <a:t>Categoras</a:t>
            </a:r>
          </a:p>
        </p:txBody>
      </p:sp>
      <p:pic>
        <p:nvPicPr>
          <p:cNvPr id="6" name="Marcador de Posição de Conteúdo 5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5F6F5677-232C-8CD8-3148-BA3CB8F71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0138" y="2598096"/>
            <a:ext cx="4297618" cy="3593592"/>
          </a:xfrm>
          <a:prstGeom prst="rect">
            <a:avLst/>
          </a:prstGeom>
        </p:spPr>
      </p:pic>
      <p:pic>
        <p:nvPicPr>
          <p:cNvPr id="7" name="Imagem 6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2BF1FC80-892D-9657-FDBE-3A20E434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5" y="2379094"/>
            <a:ext cx="3921552" cy="42927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Transações</a:t>
            </a:r>
          </a:p>
        </p:txBody>
      </p:sp>
      <p:pic>
        <p:nvPicPr>
          <p:cNvPr id="6" name="Marcador de Posição de Conteúdo 5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B14725DF-D225-6CAE-A322-2CDF99985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0586" y="2577314"/>
            <a:ext cx="3872706" cy="3969372"/>
          </a:xfrm>
          <a:prstGeom prst="rect">
            <a:avLst/>
          </a:prstGeom>
        </p:spPr>
      </p:pic>
      <p:pic>
        <p:nvPicPr>
          <p:cNvPr id="7" name="Imagem 6" descr="Uma imagem com texto, captura de ecrã, ecrã, software&#10;&#10;Os conteúdos gerados por IA poderão estar incorretos.">
            <a:extLst>
              <a:ext uri="{FF2B5EF4-FFF2-40B4-BE49-F238E27FC236}">
                <a16:creationId xmlns:a16="http://schemas.microsoft.com/office/drawing/2014/main" id="{BF091FA6-9C96-2355-9E4C-945DB7E3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15" y="2578274"/>
            <a:ext cx="4851765" cy="39561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Utilizadores</a:t>
            </a:r>
          </a:p>
        </p:txBody>
      </p:sp>
      <p:pic>
        <p:nvPicPr>
          <p:cNvPr id="4" name="Marcador de Posição de Conteúdo 3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F71CB11E-7356-EE77-C525-B9293E643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5918" y="2587752"/>
            <a:ext cx="4143968" cy="3593592"/>
          </a:xfrm>
          <a:prstGeom prst="rect">
            <a:avLst/>
          </a:prstGeom>
        </p:spPr>
      </p:pic>
      <p:pic>
        <p:nvPicPr>
          <p:cNvPr id="5" name="Imagem 4" descr="Uma imagem com texto, captura de ecrã, software, Software de multimédia&#10;&#10;Os conteúdos gerados por IA poderão estar incorretos.">
            <a:extLst>
              <a:ext uri="{FF2B5EF4-FFF2-40B4-BE49-F238E27FC236}">
                <a16:creationId xmlns:a16="http://schemas.microsoft.com/office/drawing/2014/main" id="{EC5CCBC3-C52C-585A-01A4-48CA9964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81" y="2585973"/>
            <a:ext cx="4144220" cy="3599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Sistema</a:t>
            </a:r>
          </a:p>
        </p:txBody>
      </p:sp>
      <p:pic>
        <p:nvPicPr>
          <p:cNvPr id="6" name="Marcador de Posição de Conteúdo 5" descr="Uma imagem com texto, captura de ecrã, ecrã, software&#10;&#10;Os conteúdos gerados por IA poderão estar incorretos.">
            <a:extLst>
              <a:ext uri="{FF2B5EF4-FFF2-40B4-BE49-F238E27FC236}">
                <a16:creationId xmlns:a16="http://schemas.microsoft.com/office/drawing/2014/main" id="{26CE210B-F143-686B-EF4A-59CBCE862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4188" y="2368547"/>
            <a:ext cx="4615859" cy="4292961"/>
          </a:xfrm>
          <a:prstGeom prst="rect">
            <a:avLst/>
          </a:prstGeom>
        </p:spPr>
      </p:pic>
      <p:pic>
        <p:nvPicPr>
          <p:cNvPr id="7" name="Imagem 6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881431DD-F0A7-34C6-922C-452D1447F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1" y="2369506"/>
            <a:ext cx="4493885" cy="4290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8FF66-107A-E251-3186-34887E7F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Gerir categorias</a:t>
            </a:r>
          </a:p>
        </p:txBody>
      </p:sp>
      <p:pic>
        <p:nvPicPr>
          <p:cNvPr id="4" name="Marcador de Posição de Conteúdo 3" descr="Uma imagem com texto, captura de ecrã, software&#10;&#10;Os conteúdos gerados por IA poderão estar incorretos.">
            <a:extLst>
              <a:ext uri="{FF2B5EF4-FFF2-40B4-BE49-F238E27FC236}">
                <a16:creationId xmlns:a16="http://schemas.microsoft.com/office/drawing/2014/main" id="{AB8864D3-3B44-89BD-A38D-7DCEAF0B3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17" y="2420739"/>
            <a:ext cx="3779624" cy="4167701"/>
          </a:xfrm>
          <a:prstGeom prst="rect">
            <a:avLst/>
          </a:prstGeom>
        </p:spPr>
      </p:pic>
      <p:pic>
        <p:nvPicPr>
          <p:cNvPr id="5" name="Imagem 4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F398020B-0501-0DA6-CE42-7C4166D7E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887" y="2411258"/>
            <a:ext cx="4883732" cy="413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1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9376C-18E7-04EE-5E7E-D4055145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Gerar relatórios</a:t>
            </a:r>
          </a:p>
        </p:txBody>
      </p:sp>
      <p:pic>
        <p:nvPicPr>
          <p:cNvPr id="4" name="Marcador de Posição de Conteúdo 3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D203E000-530E-05E2-81EA-51B43E4E6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4993" y="5318873"/>
            <a:ext cx="3818466" cy="1440310"/>
          </a:xfrm>
          <a:prstGeom prst="rect">
            <a:avLst/>
          </a:prstGeom>
        </p:spPr>
      </p:pic>
      <p:pic>
        <p:nvPicPr>
          <p:cNvPr id="5" name="Imagem 4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FE86A35F-EB25-4CAB-3238-38AFC4E4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41" y="2369506"/>
            <a:ext cx="3677322" cy="2860110"/>
          </a:xfrm>
          <a:prstGeom prst="rect">
            <a:avLst/>
          </a:prstGeom>
        </p:spPr>
      </p:pic>
      <p:pic>
        <p:nvPicPr>
          <p:cNvPr id="6" name="Imagem 5" descr="Uma imagem com texto, captura de ecrã, ecrã, software&#10;&#10;Os conteúdos gerados por IA poderão estar incorretos.">
            <a:extLst>
              <a:ext uri="{FF2B5EF4-FFF2-40B4-BE49-F238E27FC236}">
                <a16:creationId xmlns:a16="http://schemas.microsoft.com/office/drawing/2014/main" id="{6F468B1D-3BF0-9681-2C72-1A3F74CCA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91" y="2466061"/>
            <a:ext cx="4544667" cy="40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79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E2370-0743-1244-99E6-71C33026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Gerir transações</a:t>
            </a:r>
          </a:p>
        </p:txBody>
      </p:sp>
      <p:pic>
        <p:nvPicPr>
          <p:cNvPr id="4" name="Marcador de Posição de Conteúdo 3" descr="Uma imagem com texto, captura de ecrã, software, Sistema operativo&#10;&#10;Os conteúdos gerados por IA poderão estar incorretos.">
            <a:extLst>
              <a:ext uri="{FF2B5EF4-FFF2-40B4-BE49-F238E27FC236}">
                <a16:creationId xmlns:a16="http://schemas.microsoft.com/office/drawing/2014/main" id="{9163F9C3-E85A-03E1-47B1-8377D732F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0139" y="4550162"/>
            <a:ext cx="3282122" cy="2194854"/>
          </a:xfrm>
          <a:prstGeom prst="rect">
            <a:avLst/>
          </a:prstGeom>
        </p:spPr>
      </p:pic>
      <p:pic>
        <p:nvPicPr>
          <p:cNvPr id="5" name="Imagem 4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1DE7CB3F-86ED-0D66-5B0A-0F1EC1202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629" y="2335916"/>
            <a:ext cx="2901864" cy="2196605"/>
          </a:xfrm>
          <a:prstGeom prst="rect">
            <a:avLst/>
          </a:prstGeom>
        </p:spPr>
      </p:pic>
      <p:pic>
        <p:nvPicPr>
          <p:cNvPr id="6" name="Imagem 5" descr="Uma imagem com texto, captura de ecrã, software&#10;&#10;Os conteúdos gerados por IA poderão estar incorretos.">
            <a:extLst>
              <a:ext uri="{FF2B5EF4-FFF2-40B4-BE49-F238E27FC236}">
                <a16:creationId xmlns:a16="http://schemas.microsoft.com/office/drawing/2014/main" id="{BFB04B0D-22E5-C566-FE3C-6D763C9BE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76" y="4551458"/>
            <a:ext cx="2901864" cy="2195548"/>
          </a:xfrm>
          <a:prstGeom prst="rect">
            <a:avLst/>
          </a:prstGeom>
        </p:spPr>
      </p:pic>
      <p:pic>
        <p:nvPicPr>
          <p:cNvPr id="7" name="Imagem 6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42C1B683-870A-7D79-968F-C07C20F77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66" y="2330698"/>
            <a:ext cx="3149586" cy="220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3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55341-CCD1-E63C-25E3-45E21DFB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/>
              <a:t>Menu principal</a:t>
            </a:r>
          </a:p>
        </p:txBody>
      </p:sp>
      <p:pic>
        <p:nvPicPr>
          <p:cNvPr id="4" name="Marcador de Posição de Conteúdo 3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03949DA9-D168-29D0-E2C2-183B4E4C9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043" y="2660820"/>
            <a:ext cx="4124011" cy="3593592"/>
          </a:xfrm>
          <a:prstGeom prst="rect">
            <a:avLst/>
          </a:prstGeom>
        </p:spPr>
      </p:pic>
      <p:pic>
        <p:nvPicPr>
          <p:cNvPr id="5" name="Imagem 4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C7C75058-ABA0-8E3D-3705-8C7205C56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6" y="2657943"/>
            <a:ext cx="4665947" cy="359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2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" y="3797987"/>
            <a:ext cx="7701534" cy="10834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Receitas - Despesas</a:t>
            </a:r>
          </a:p>
          <a:p>
            <a:r>
              <a:rPr lang="pt-PT"/>
              <a:t>Cálculo automático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simples e funcional</a:t>
            </a:r>
          </a:p>
          <a:p>
            <a:r>
              <a:t>Fácil de expandir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no Ecrã (4:3)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5" baseType="lpstr">
      <vt:lpstr>JuxtaposeVTI</vt:lpstr>
      <vt:lpstr>Gestão de Finanças Pessoais</vt:lpstr>
      <vt:lpstr>Controlo de Progresso do Projeto</vt:lpstr>
      <vt:lpstr>Objetivo do Site</vt:lpstr>
      <vt:lpstr>Arquitetura Geral</vt:lpstr>
      <vt:lpstr>Categoras</vt:lpstr>
      <vt:lpstr>Transações</vt:lpstr>
      <vt:lpstr>Utilizadores</vt:lpstr>
      <vt:lpstr>Sistema</vt:lpstr>
      <vt:lpstr>Gerir categorias</vt:lpstr>
      <vt:lpstr>Gerar relatórios</vt:lpstr>
      <vt:lpstr>Gerir transações</vt:lpstr>
      <vt:lpstr>Menu principal</vt:lpstr>
      <vt:lpstr>Saldo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5</cp:revision>
  <dcterms:created xsi:type="dcterms:W3CDTF">2013-01-27T09:14:16Z</dcterms:created>
  <dcterms:modified xsi:type="dcterms:W3CDTF">2025-12-16T09:17:28Z</dcterms:modified>
  <cp:category/>
</cp:coreProperties>
</file>